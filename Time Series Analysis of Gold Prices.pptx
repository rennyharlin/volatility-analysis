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1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19EEF-AB1E-6BB7-2253-E6EBBDE67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1F687-FCA9-9437-5C75-43218EF62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243B1-5B35-BDA4-25D1-366FF5A6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E9EF0-100C-8CC3-B9E0-1FE66DF6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B9AB3-EFB7-BDAC-4723-A767D60A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28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3478-3D22-4C4D-AC91-309C60D0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2C282-6A8C-FE22-CD61-CBCE90F8F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5E55D-DB08-5181-FC7B-516333187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B2476-4319-F6ED-1107-7B6CECEB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F3D28-2408-F263-E952-1EEDF300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75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9D65-DA86-EBD8-CD8D-58B85A956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31F9C-F35C-8F94-17E6-7C48F004B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12190-1D00-5133-BC71-4A41FD9A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1B46-4AE4-311C-F90A-9575D8BE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FA536-9DBB-D2C6-6AEA-3E66ABE6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8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A832D-D80F-C270-0D0C-5931487E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B18EE-984A-43DD-1E0F-43BFA5A9C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8C531-A0D4-F63F-B497-F621D1940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40A7-9800-BE27-9300-8442B4E9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485CB-C717-F73A-5272-678CEF35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EC7A7-EE28-484D-F0D0-B70C57E3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86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45FE-27E6-A867-154B-1F9229FB0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DBB0D-4A39-345E-ACDC-F85D74A8D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AA5BE-946D-E69D-E885-D8DAA912F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E0310-E123-CF6B-5D0F-B4F275D13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C1269-F988-E8ED-06F7-F541A908B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1EDD44-DE99-BAE0-DD2B-C280E58F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0C4FF-5510-100F-2B32-B8742807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4E6C7-01B7-E6EB-656C-957ADB8AB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51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2E751-C69F-4D6F-51A8-5F778A780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B71D6D-5654-D6D2-1F74-D64F52E9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0B698-1C64-7D39-88F5-1D6D7A7C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87B35-FA32-8375-B3B1-BBE3F421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79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64CA6-2212-3545-95EB-A1FF8E14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77478-204A-D2E0-BAEA-8C195443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32856-1B9F-364F-E885-9C7C09C8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02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892F-61FF-801D-7AD9-594E47FF4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C9CB1-D552-9E3F-D21C-FAC62048F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F8F3-4763-9D2D-1319-97CDC9C1F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A5F49-9EAE-7C3D-213A-423B01363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B2D1A-04EE-9BF2-703A-6D2EE3786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755E2-4585-298A-7ED2-23E482454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26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2996-C04B-891C-6622-3F354FA8E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EA3C77-6CB4-EC46-797E-183214FB5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7B847-07A4-8498-8716-D147EDAB7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35B5A-053A-3509-279B-060AEE86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A5EE8-5979-9E1A-3E64-77F00869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767B2-F777-EC3E-BCCD-6FFA9BCE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19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90ED-EAD2-B02F-62E2-FBC91BD5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BFFF3-B7EA-0E62-253D-0759D4746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E9356-0FC9-4218-8D67-1CEF75AE9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A0BCE-99AD-5ECF-3AF4-75795068F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F871B-112E-5446-689E-CB4A7E63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089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C7A6AA-6690-ACE2-BF17-13E98F7AC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B6963-9E93-1DDA-2E61-BA1428F50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04099-A4E9-07FD-5104-288B938B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D3946-EAB1-1BC1-E8A5-1AC2FE6D1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3FCF9-5DFB-B892-EDFD-547BF209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393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E8522-F006-E771-A332-086AEA788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78060-AEA1-0E67-87D8-F6B211C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346DE-CCEC-6744-02ED-F3520F6CD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8B1A3-992A-4DD1-AE9F-1A0B3B18E38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54BE-4798-1BB8-9276-F75D4CDDD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9FD6B-96DF-6FDD-4054-875EB3987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98A3E-BA64-4C23-8256-87C70D812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62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3AE7-7009-1712-1FD3-B5D7083E2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 Series Analysis of Gold Prices</a:t>
            </a:r>
            <a:br>
              <a:rPr lang="en-US" dirty="0"/>
            </a:br>
            <a:r>
              <a:rPr lang="en-US" dirty="0"/>
              <a:t>D-15</a:t>
            </a:r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194BB89-081D-E3AE-EAB3-CEDCF9D4F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Malapati Kalyan Rohit 	– CB.SC.U4AIE23318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Renny Harlin D 		– CB.SC.U4AIE23334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Suganth K 			– CB.SC.U4AIE23340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Tharunkumar S 		– CB.SC.U4AIE23343</a:t>
            </a:r>
          </a:p>
        </p:txBody>
      </p:sp>
    </p:spTree>
    <p:extLst>
      <p:ext uri="{BB962C8B-B14F-4D97-AF65-F5344CB8AC3E}">
        <p14:creationId xmlns:p14="http://schemas.microsoft.com/office/powerpoint/2010/main" val="3950337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572D-CF76-7CAA-4D47-20BBAF9E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413E3-66EA-3387-11AB-D2566C5B2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Daily gold fixing price (10:30 am London time) in London Bullion Market in US dollars per Troy ounce from January 3, 1995, to November 10, 2016.</a:t>
            </a:r>
          </a:p>
          <a:p>
            <a:r>
              <a:rPr lang="en-IN" b="1" dirty="0"/>
              <a:t>Objective</a:t>
            </a:r>
          </a:p>
          <a:p>
            <a:pPr lvl="1"/>
            <a:r>
              <a:rPr lang="en-IN" dirty="0"/>
              <a:t>Modelling the statistical behaviour and risk characteristics of gold over time</a:t>
            </a:r>
          </a:p>
        </p:txBody>
      </p:sp>
    </p:spTree>
    <p:extLst>
      <p:ext uri="{BB962C8B-B14F-4D97-AF65-F5344CB8AC3E}">
        <p14:creationId xmlns:p14="http://schemas.microsoft.com/office/powerpoint/2010/main" val="765500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0D83-B51A-BEB0-D91D-E08FD727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C7E928-0622-21AF-B3D3-35B713A586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000" y="1929606"/>
            <a:ext cx="53340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2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2591-0B9E-B0EB-B7B7-960BFB1D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44BE2C-3F2D-2B69-9404-417D53DB2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4192" y="4694925"/>
            <a:ext cx="2874264" cy="1890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C8B90F-CC45-A97E-52D6-D35A7441C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192" y="1435838"/>
            <a:ext cx="9521951" cy="313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1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79B5-801A-7CD4-160A-F26E2BE4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ADF-test on original series</a:t>
            </a:r>
            <a:br>
              <a:rPr lang="en-US" sz="3600" dirty="0"/>
            </a:br>
            <a:r>
              <a:rPr lang="en-US" sz="3600" dirty="0"/>
              <a:t>(Augmented Dickey-Fuller Test)</a:t>
            </a: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60D4A4-53D9-A435-678F-EB4E6B97C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4023" y="1818704"/>
            <a:ext cx="4143953" cy="14194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7E44F8-DA23-B910-D3C3-CBE343B13616}"/>
              </a:ext>
            </a:extLst>
          </p:cNvPr>
          <p:cNvSpPr txBox="1"/>
          <p:nvPr/>
        </p:nvSpPr>
        <p:spPr>
          <a:xfrm>
            <a:off x="838200" y="3747890"/>
            <a:ext cx="80497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Null Hypothesis: Not stationary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Alternate Hypothesis: Stationary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Since, p-value &gt; 0.05 the series does not reject the null hypothesis, therefore it’s non-stationary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51076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E400-F944-7BBF-DE9B-17E43BD8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Detrend and stabilize variance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B8D625-CBC1-E856-09C1-47840D81F4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8672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In order to detrend the series, we consider the returns instead of the gold prices</a:t>
                </a:r>
              </a:p>
              <a:p>
                <a:r>
                  <a:rPr lang="en-IN" sz="2000" dirty="0"/>
                  <a:t>Since the series is highly volatile, the variance can stabilized by using the logarithmic returns of the prices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  <a:p>
                <a:r>
                  <a:rPr lang="en-IN" sz="2000" dirty="0"/>
                  <a:t>This practise is standard in financial time series modelling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B8D625-CBC1-E856-09C1-47840D81F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86728" cy="4351338"/>
              </a:xfrm>
              <a:blipFill>
                <a:blip r:embed="rId2"/>
                <a:stretch>
                  <a:fillRect l="-833" t="-1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4E38CBF-18CC-2634-78B3-252BF69D2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685329"/>
            <a:ext cx="4617720" cy="348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91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17CB-3CCD-468B-E790-69767C1E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Retest for stationarity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23F91A-05E5-CBF3-02C5-56AF24396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00181" y="2523998"/>
            <a:ext cx="4391638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87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8943-6B8E-F09A-A779-64B17505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ACF and PACF plots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A118B1-63AC-FD7F-9E2E-0268693AC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162" y="1690688"/>
            <a:ext cx="8067675" cy="2828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B316C0-9E66-240A-A2D9-F4F445E2D2AE}"/>
              </a:ext>
            </a:extLst>
          </p:cNvPr>
          <p:cNvSpPr txBox="1"/>
          <p:nvPr/>
        </p:nvSpPr>
        <p:spPr>
          <a:xfrm>
            <a:off x="838200" y="5167312"/>
            <a:ext cx="8824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ACF and PACF plots cut off at 0 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implies the series is white noise with mean 0 with no significant auto-correlation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ARIMA(0,0,0) can be used to model the mean</a:t>
            </a:r>
          </a:p>
        </p:txBody>
      </p:sp>
    </p:spTree>
    <p:extLst>
      <p:ext uri="{BB962C8B-B14F-4D97-AF65-F5344CB8AC3E}">
        <p14:creationId xmlns:p14="http://schemas.microsoft.com/office/powerpoint/2010/main" val="2576042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13F7-3B1C-9B01-1D73-0D94A6AED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ARCH Test</a:t>
            </a:r>
            <a:br>
              <a:rPr lang="en-US" sz="3200" dirty="0"/>
            </a:br>
            <a:r>
              <a:rPr lang="en-US" sz="3200" dirty="0"/>
              <a:t>(Autoregressive Conditional Heteroskedasticity)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8358E-31E0-687F-7EE8-0113F3D26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ARCH test checks whether a time-series has time varying variance</a:t>
            </a:r>
          </a:p>
          <a:p>
            <a:r>
              <a:rPr lang="en-US" dirty="0"/>
              <a:t>Null Hypothesis: No ARCH effects (constant variance)</a:t>
            </a:r>
          </a:p>
          <a:p>
            <a:r>
              <a:rPr lang="en-US" dirty="0"/>
              <a:t>Alternate Hypothesis: ARCH effects present (time-varying  variance) </a:t>
            </a:r>
          </a:p>
          <a:p>
            <a:r>
              <a:rPr lang="en-US" dirty="0"/>
              <a:t>Reject Null Hypothesis =&gt; Use GARCH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p-value &lt; 0.05 rejects the Null Hypothesis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FD468-58C6-C363-9717-AE470BEA3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707" y="4659967"/>
            <a:ext cx="5096586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79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7D54-B003-5E43-09F3-AF45AA26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the variance using GARCH(1,1)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4465A7-EC96-924E-4A7B-A7101EE8D0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𝐶𝑜𝑛𝑑𝑖𝑡𝑖𝑜𝑛𝑎𝑙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𝑣𝑎𝑟𝑖𝑎𝑛𝑐𝑒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𝐶𝑜𝑛𝑠𝑡𝑎𝑛𝑡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𝐸𝑓𝑓𝑒𝑐𝑡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𝑟𝑒𝑐𝑒𝑛𝑡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𝑠𝑞𝑢𝑎𝑟𝑒𝑑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𝑟𝑒𝑠𝑖𝑑𝑢𝑎𝑙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𝐸𝑓𝑓𝑒𝑐𝑡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𝑣𝑎𝑟𝑖𝑎𝑛𝑐𝑒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The residual here is obtained from fitting the series with ARIMA</a:t>
                </a:r>
              </a:p>
              <a:p>
                <a:r>
                  <a:rPr lang="en-US" b="0" dirty="0"/>
                  <a:t>But since we cannot do that here the residual is the log-returns itself</a:t>
                </a:r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4465A7-EC96-924E-4A7B-A7101EE8D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17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71E26-E4B2-A9CC-CADA-3D5EB818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from GARCH(1,1)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69A965-79B7-F484-7B8A-ECE159C2C5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2217" y="2314979"/>
            <a:ext cx="2514951" cy="10383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8988D3-2B36-5FDD-6D64-9B34708BC31D}"/>
                  </a:ext>
                </a:extLst>
              </p:cNvPr>
              <p:cNvSpPr txBox="1"/>
              <p:nvPr/>
            </p:nvSpPr>
            <p:spPr>
              <a:xfrm>
                <a:off x="838200" y="4050792"/>
                <a:ext cx="9502986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most important result from the model parameters is </a:t>
                </a:r>
                <a:r>
                  <a:rPr lang="en-US" b="1" dirty="0"/>
                  <a:t>volatility persistence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=0.0687+0.9313=1</m:t>
                      </m:r>
                    </m:oMath>
                  </m:oMathPara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 sum of 1 indicates </a:t>
                </a:r>
                <a:r>
                  <a:rPr lang="en-IN" b="1" dirty="0"/>
                  <a:t>high market persistence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If a big shock appears in the market, then it’s effects will remain in the market for many days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This implies higher risk, slower return to normal market conditions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8988D3-2B36-5FDD-6D64-9B34708BC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50792"/>
                <a:ext cx="9502986" cy="1754326"/>
              </a:xfrm>
              <a:prstGeom prst="rect">
                <a:avLst/>
              </a:prstGeom>
              <a:blipFill>
                <a:blip r:embed="rId3"/>
                <a:stretch>
                  <a:fillRect l="-449" t="-17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4231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90769-0D30-07EE-E7C1-44933015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GARCH Residual Plots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6AEB94-47E6-A8C4-475D-94508BC10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8837" y="2014537"/>
            <a:ext cx="793432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64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A72F-E1F1-6417-1707-17974347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Ljung-Box test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4F54D-80B6-A8D8-502C-EE950CAB8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fitting time series models (ARIMA, GARCH)</a:t>
            </a:r>
          </a:p>
          <a:p>
            <a:pPr lvl="1"/>
            <a:r>
              <a:rPr lang="en-US" dirty="0"/>
              <a:t>Residuals – no remaining dependence on mean</a:t>
            </a:r>
          </a:p>
          <a:p>
            <a:pPr lvl="1"/>
            <a:r>
              <a:rPr lang="en-US" dirty="0"/>
              <a:t>Squared-residuals – no remaining dependence on variance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939BE-5815-26D6-3802-9806D7B2D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827" y="3575024"/>
            <a:ext cx="8336345" cy="237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68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A36F-5A21-87F4-59DE-742806AA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 test on squared residuals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D3401-E7D6-7418-A820-337EEAE3D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verify that GARCH has captured all volatility clustering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p-value &gt; 0.05 accepts Nulls Hypothesis that no ARCH effects are present (constant variance)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09698C-E3EF-33E8-BB90-657825C7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17" y="2549232"/>
            <a:ext cx="5668166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93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3CC9A-B5C6-C2E5-E336-3F6B1DC0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30-day volatility forecast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039C9A-3D9B-379A-2E20-D1FC603D8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4062" y="1557337"/>
            <a:ext cx="8143875" cy="3743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150B39-838A-491F-82F7-922C5D92FF36}"/>
              </a:ext>
            </a:extLst>
          </p:cNvPr>
          <p:cNvSpPr txBox="1"/>
          <p:nvPr/>
        </p:nvSpPr>
        <p:spPr>
          <a:xfrm>
            <a:off x="838200" y="5532120"/>
            <a:ext cx="7464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Volatility is expected to increase over the next month and then stabilize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1250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494</Words>
  <Application>Microsoft Office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Time Series Analysis of Gold Prices D-15</vt:lpstr>
      <vt:lpstr>Dataset</vt:lpstr>
      <vt:lpstr>Data visualization</vt:lpstr>
      <vt:lpstr>Statistical analysis</vt:lpstr>
      <vt:lpstr>ADF-test on original series (Augmented Dickey-Fuller Test)</vt:lpstr>
      <vt:lpstr>Detrend and stabilize variance</vt:lpstr>
      <vt:lpstr>Retest for stationarity</vt:lpstr>
      <vt:lpstr>ACF and PACF plots</vt:lpstr>
      <vt:lpstr>ARCH Test (Autoregressive Conditional Heteroskedasticity)</vt:lpstr>
      <vt:lpstr>Modelling the variance using GARCH(1,1)</vt:lpstr>
      <vt:lpstr>Inference from GARCH(1,1)</vt:lpstr>
      <vt:lpstr>GARCH Residual Plots</vt:lpstr>
      <vt:lpstr>Ljung-Box test</vt:lpstr>
      <vt:lpstr>ARCH test on squared residuals</vt:lpstr>
      <vt:lpstr>30-day volatility forecast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Renny Harlin</dc:creator>
  <cp:lastModifiedBy>Renny Harlin</cp:lastModifiedBy>
  <cp:revision>6</cp:revision>
  <dcterms:created xsi:type="dcterms:W3CDTF">2026-01-18T00:37:47Z</dcterms:created>
  <dcterms:modified xsi:type="dcterms:W3CDTF">2026-01-19T13:19:16Z</dcterms:modified>
</cp:coreProperties>
</file>